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embeddings/Microsoft_Excel_Worksheet1.xlsx" ContentType="application/vnd.openxmlformats-officedocument.spreadsheetml.sheet"/>
  <Override PartName="/ppt/embeddings/Microsoft_Excel_Worksheet2.xlsx" ContentType="application/vnd.openxmlformats-officedocument.spreadsheetml.sheet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7.png" ContentType="image/png"/>
  <Override PartName="/ppt/media/image11.png" ContentType="image/png"/>
  <Override PartName="/ppt/media/image1.jpeg" ContentType="image/jpe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4.png" ContentType="image/png"/>
  <Override PartName="/ppt/media/image12.png" ContentType="image/png"/>
  <Override PartName="/ppt/media/image3.jpeg" ContentType="image/jpeg"/>
  <Override PartName="/ppt/media/image28.png" ContentType="image/png"/>
  <Override PartName="/ppt/media/image8.png" ContentType="image/png"/>
  <Override PartName="/ppt/media/image16.png" ContentType="image/png"/>
  <Override PartName="/ppt/media/image19.png" ContentType="image/png"/>
  <Override PartName="/ppt/media/image22.png" ContentType="image/png"/>
  <Override PartName="/ppt/media/image20.jpeg" ContentType="image/jpeg"/>
  <Override PartName="/ppt/media/image21.png" ContentType="image/png"/>
  <Override PartName="/ppt/media/image9.png" ContentType="image/png"/>
  <Override PartName="/ppt/media/image23.png" ContentType="image/png"/>
  <Override PartName="/ppt/media/image25.png" ContentType="image/png"/>
  <Override PartName="/ppt/media/image18.png" ContentType="image/png"/>
  <Override PartName="/ppt/media/image27.png" ContentType="image/png"/>
  <Override PartName="/ppt/media/image26.jpeg" ContentType="image/jpeg"/>
  <Override PartName="/ppt/media/image10.png" ContentType="image/png"/>
  <Override PartName="/ppt/media/image2.png" ContentType="image/png"/>
  <Override PartName="/ppt/media/image29.png" ContentType="image/png"/>
  <Override PartName="/ppt/media/image24.png" ContentType="image/png"/>
  <Override PartName="/ppt/media/image7.png" ContentType="image/png"/>
  <Override PartName="/ppt/media/image15.png" ContentType="image/png"/>
  <Override PartName="/ppt/media/image30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charts/_rels/chart2.xml.rels" ContentType="application/vnd.openxmlformats-package.relationships+xml"/>
  <Override PartName="/ppt/charts/_rels/chart1.xml.rels" ContentType="application/vnd.openxmlformats-package.relationshi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openxmlformats.org/officeDocument/2006/relationships/oleObject" Target="workbook" TargetMode="External"/>
</Relationships>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openxmlformats.org/officeDocument/2006/relationships/oleObject" Target="workbook" TargetMode="Externa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400" strike="noStrike" u="none">
                <a:solidFill>
                  <a:srgbClr val="23312d"/>
                </a:solidFill>
                <a:uFillTx/>
                <a:latin typeface="Cambria"/>
              </a:rPr>
              <a:t>Total Practice Budget: $1,200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Split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2f5d52"/>
              </a:solidFill>
              <a:ln w="0">
                <a:noFill/>
              </a:ln>
            </c:spPr>
          </c:dPt>
          <c:dPt>
            <c:idx val="1"/>
            <c:spPr>
              <a:solidFill>
                <a:srgbClr val="4f7b73"/>
              </a:solidFill>
              <a:ln w="0">
                <a:noFill/>
              </a:ln>
            </c:spPr>
          </c:dPt>
          <c:dPt>
            <c:idx val="2"/>
            <c:spPr>
              <a:solidFill>
                <a:srgbClr val="c8923a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ffffff"/>
                      </a:solidFill>
                      <a:uFillTx/>
                      <a:latin typeface="Calibr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  <c:leaderLines>
              <c:spPr>
                <a:ln>
                  <a:solidFill>
                    <a:srgbClr val="f9f9f9"/>
                  </a:solidFill>
                </a:ln>
              </c:spPr>
            </c:leaderLines>
          </c:dLbls>
          <c:cat>
            <c:strRef>
              <c:f>Sheet1!$A$2:$A$4</c:f>
              <c:strCache>
                <c:ptCount val="3"/>
                <c:pt idx="0">
                  <c:v>Awareness — 30%</c:v>
                </c:pt>
                <c:pt idx="1">
                  <c:v>Consideration — 30%</c:v>
                </c:pt>
                <c:pt idx="2">
                  <c:v>Conversion — 40%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23312d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  <c:externalData r:id="rId1"/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300" strike="noStrike" u="none">
                <a:solidFill>
                  <a:srgbClr val="23312d"/>
                </a:solidFill>
                <a:uFillTx/>
                <a:latin typeface="Cambria"/>
              </a:rPr>
              <a:t>Projected Weekly Conversions (4-Week Ramp)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Conversions</c:v>
                </c:pt>
              </c:strCache>
            </c:strRef>
          </c:tx>
          <c:spPr>
            <a:solidFill>
              <a:srgbClr val="c8923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c8923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c8923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c8923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c8923a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23312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23312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23312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b="0" sz="1200" strike="noStrike" u="none">
                      <a:solidFill>
                        <a:srgbClr val="23312d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, </c:separator>
            </c:dLbl>
            <c:txPr>
              <a:bodyPr wrap="square"/>
              <a:lstStyle/>
              <a:p>
                <a:pPr>
                  <a:defRPr b="0" sz="1200" strike="noStrike" u="none">
                    <a:solidFill>
                      <a:srgbClr val="23312d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15</c:v>
                </c:pt>
                <c:pt idx="2">
                  <c:v>21</c:v>
                </c:pt>
                <c:pt idx="3">
                  <c:v>26</c:v>
                </c:pt>
              </c:numCache>
            </c:numRef>
          </c:val>
        </c:ser>
        <c:gapWidth val="150"/>
        <c:overlap val="0"/>
        <c:axId val="5908048"/>
        <c:axId val="75667123"/>
      </c:barChart>
      <c:catAx>
        <c:axId val="59080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5c6f6a"/>
                </a:solidFill>
                <a:uFillTx/>
                <a:latin typeface="Calibri"/>
              </a:defRPr>
            </a:pPr>
          </a:p>
        </c:txPr>
        <c:crossAx val="75667123"/>
        <c:crosses val="autoZero"/>
        <c:auto val="1"/>
        <c:lblAlgn val="ctr"/>
        <c:lblOffset val="100"/>
        <c:noMultiLvlLbl val="0"/>
      </c:catAx>
      <c:valAx>
        <c:axId val="75667123"/>
        <c:scaling>
          <c:orientation val="minMax"/>
        </c:scaling>
        <c:delete val="0"/>
        <c:axPos val="l"/>
        <c:majorGridlines>
          <c:spPr>
            <a:ln w="6480">
              <a:solidFill>
                <a:srgbClr val="dce6e1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5c6f6a"/>
                </a:solidFill>
                <a:uFillTx/>
                <a:latin typeface="Calibri"/>
              </a:defRPr>
            </a:pPr>
          </a:p>
        </c:txPr>
        <c:crossAx val="590804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  <c:externalData r:id="rId1"/>
  <c:externalData r:id="rId2"/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B722A63F-C781-491F-8F3C-7BD1D665015E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3A29F4-2667-425E-B3BE-65C9E5D5DD0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0A6398-61E8-4DC6-9023-64E1D3CA9C3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537D70-997F-436A-A73E-BC676FE10CE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9B0FA4-D9A2-4EE2-BB2E-388DAC0722C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0862A5-8587-45E9-B9BC-28ED21BE8D70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7E4E14-F9BD-4004-913C-4EADFEED6F0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33C62A-2B72-4B85-AE68-484B1875FF03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5189FD-CD60-4129-A6F4-C32786C32FA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491E7E-162C-432F-BC88-1517FEEEF38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57EF0E-A182-4895-813F-551B06F6CCF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2D4011-1ED9-40FB-B85D-28B0BA2A70A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8CFF28-A6A0-4D18-8C96-00EA489F3F4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D187E3-73A0-4447-AA15-1199735E160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8B8475-4ECF-47F9-AFB7-952001A9B6E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A4CBFF-8224-4C51-9965-951D74428A9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2247D1-E973-4F87-B9A4-BF8B792A4103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EED49A-AEAD-4DF3-AB23-08111C35B1E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5ED30F-0C11-4399-8F1B-57F13E1144D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6B1DFF-39A3-4041-818B-441B39F2A7F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Relationship Id="rId8" Type="http://schemas.openxmlformats.org/officeDocument/2006/relationships/image" Target="../media/image1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5.png"/><Relationship Id="rId3" Type="http://schemas.openxmlformats.org/officeDocument/2006/relationships/image" Target="../media/image25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Relationship Id="rId8" Type="http://schemas.openxmlformats.org/officeDocument/2006/relationships/image" Target="../media/image18.png"/><Relationship Id="rId9" Type="http://schemas.openxmlformats.org/officeDocument/2006/relationships/image" Target="../media/image26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0.png"/><Relationship Id="rId3" Type="http://schemas.openxmlformats.org/officeDocument/2006/relationships/image" Target="../media/image30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863840" y="-2011680"/>
            <a:ext cx="6583320" cy="6583320"/>
          </a:xfrm>
          <a:prstGeom prst="ellipse">
            <a:avLst/>
          </a:prstGeom>
          <a:solidFill>
            <a:srgbClr val="1e3a32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778240" y="-914400"/>
            <a:ext cx="4205880" cy="4205880"/>
          </a:xfrm>
          <a:prstGeom prst="ellipse">
            <a:avLst/>
          </a:prstGeom>
          <a:solidFill>
            <a:srgbClr val="c8923a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40080" y="640080"/>
            <a:ext cx="502560" cy="50256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640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6241f"/>
                </a:solidFill>
                <a:uFillTx/>
                <a:latin typeface="Cambria"/>
                <a:ea typeface="Cambria"/>
              </a:rPr>
              <a:t>L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85800" y="23317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9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CAPSTONE PROJECT  ·  FACEBOOK ADS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2697480"/>
            <a:ext cx="10515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Lumora Skincare</a:t>
            </a:r>
            <a:endParaRPr b="0" lang="en-US" sz="5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85800" y="3794760"/>
            <a:ext cx="877788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bdad3"/>
                </a:solidFill>
                <a:uFillTx/>
                <a:latin typeface="Calibri"/>
                <a:ea typeface="Calibri"/>
              </a:rPr>
              <a:t>A Full-Funnel Facebook Ads Practice Campaign for the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cbdad3"/>
                </a:solidFill>
                <a:uFillTx/>
                <a:latin typeface="Calibri"/>
                <a:ea typeface="Calibri"/>
              </a:rPr>
              <a:t>Vitamin C Glow Serum Launch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cbdad3"/>
                </a:solidFill>
                <a:uFillTx/>
                <a:latin typeface="Calibri"/>
                <a:ea typeface="Calibri"/>
              </a:rPr>
              <a:t>Submitted By: Kundan Singh Tanwar</a:t>
            </a:r>
            <a:r>
              <a:rPr b="0" lang="en-US" sz="1700" strike="noStrike" u="none">
                <a:solidFill>
                  <a:srgbClr val="cbdad3"/>
                </a:solidFill>
                <a:uFillTx/>
                <a:latin typeface="Calibri"/>
                <a:ea typeface="Calibri"/>
              </a:rPr>
              <a:t> 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6288480" y="36360"/>
            <a:ext cx="5893920" cy="437544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What We'll Cover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 complete walkthrough of strategy, creative, setup, and results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548640" y="141732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777240" y="164592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77724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1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1417320" y="160020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Business &amp; Brand Overview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417320" y="1984320"/>
            <a:ext cx="425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Get familiar with Lumora Skincare and the Vitamin C Glow Serum launch.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6263640" y="141732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6492240" y="164592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649224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2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7132320" y="160020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Strategy &amp; Objectives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7132320" y="1984320"/>
            <a:ext cx="425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 full-funnel approach: Awareness, Consideration, and Conversion.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548640" y="306324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777240" y="329184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777240" y="3291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3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1417320" y="324612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 &amp; Budget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1417320" y="3630240"/>
            <a:ext cx="425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Who we're reaching, and how the $1,200 practice budget is allocated.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Shape 19"/>
          <p:cNvSpPr/>
          <p:nvPr/>
        </p:nvSpPr>
        <p:spPr>
          <a:xfrm>
            <a:off x="6263640" y="306324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6492240" y="329184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6492240" y="3291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4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7132320" y="324612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Creative Concepts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7132320" y="3630240"/>
            <a:ext cx="425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Three ad concepts: image, carousel, and short-form video.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548640" y="470916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777240" y="493776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777240" y="4937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1417320" y="489204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Campaign Setup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1417320" y="5276160"/>
            <a:ext cx="425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How the campaign is structured inside Meta Ads Manager.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6263640" y="4709160"/>
            <a:ext cx="5348880" cy="1416960"/>
          </a:xfrm>
          <a:prstGeom prst="roundRect">
            <a:avLst>
              <a:gd name="adj" fmla="val 5161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Shape 30"/>
          <p:cNvSpPr/>
          <p:nvPr/>
        </p:nvSpPr>
        <p:spPr>
          <a:xfrm>
            <a:off x="6492240" y="493776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6492240" y="4937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6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7132320" y="489204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Performance &amp; Reflection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 33"/>
          <p:cNvSpPr/>
          <p:nvPr/>
        </p:nvSpPr>
        <p:spPr>
          <a:xfrm>
            <a:off x="7132320" y="5276160"/>
            <a:ext cx="4251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Simulated results, key learnings, challenges, and next steps.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 34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 35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2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Meet Lumora Skincare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The fictional brand at the center of this practice campaign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640080" y="1417320"/>
            <a:ext cx="5943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Lumora Skincare is a clean-beauty startup built for busy professionals who want effective, simple skincare without harsh chemicals or ten-step routines.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Every product is vegan, cruelty-free, and formulated with dermatologist-reviewed active ingredients — designed to feel premium without the premium markup.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For this practice campaign, Lumora is launching its hero product to a digital-first audience of skincare-conscious millennials and Gen Z professionals.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6995160" y="1371600"/>
            <a:ext cx="4571640" cy="4434480"/>
          </a:xfrm>
          <a:prstGeom prst="roundRect">
            <a:avLst>
              <a:gd name="adj" fmla="val 2062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8915400" y="1691640"/>
            <a:ext cx="731160" cy="73116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9098280" y="18745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7"/>
          <p:cNvSpPr/>
          <p:nvPr/>
        </p:nvSpPr>
        <p:spPr>
          <a:xfrm>
            <a:off x="7269480" y="256032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Vitamin C Glow Serum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7269480" y="29718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“</a:t>
            </a:r>
            <a:r>
              <a:rPr b="0" i="1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Brighter skin, backed by science.”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7315200" y="35204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Category:  </a:t>
            </a: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Facial Serum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7315200" y="394092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Price:  </a:t>
            </a: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$34.00 USD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7315200" y="436176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Size:  </a:t>
            </a: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30 mL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7315200" y="478224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Key Ingredients:  </a:t>
            </a: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15% Vitamin C · Hyaluronic Acid · Niacinamide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7315200" y="520308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Website (fictional):  </a:t>
            </a: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lumoraskincare.com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3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2"/>
          <a:stretch/>
        </p:blipFill>
        <p:spPr>
          <a:xfrm>
            <a:off x="6965280" y="537840"/>
            <a:ext cx="4537080" cy="210492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A Full-Funnel Campaign Strategy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Three connected campaigns guide a stranger toward a purchase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640080" y="1508760"/>
            <a:ext cx="3291480" cy="2834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1920240" y="1801440"/>
            <a:ext cx="731160" cy="73116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2110320" y="199152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6"/>
          <p:cNvSpPr/>
          <p:nvPr/>
        </p:nvSpPr>
        <p:spPr>
          <a:xfrm>
            <a:off x="822960" y="26791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Awareness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914400" y="313632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Objective: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Brand Awareness / Reach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Format: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Video (Reels &amp; Stories)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KPI: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CPM &amp; Video Views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4453200" y="1508760"/>
            <a:ext cx="3291480" cy="2834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5733360" y="1801440"/>
            <a:ext cx="731160" cy="73116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1" name="Image 1" descr="preencoded.png"/>
          <p:cNvPicPr/>
          <p:nvPr/>
        </p:nvPicPr>
        <p:blipFill>
          <a:blip r:embed="rId2"/>
          <a:stretch/>
        </p:blipFill>
        <p:spPr>
          <a:xfrm>
            <a:off x="5923440" y="199152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0"/>
          <p:cNvSpPr/>
          <p:nvPr/>
        </p:nvSpPr>
        <p:spPr>
          <a:xfrm>
            <a:off x="4636080" y="26791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Consideration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4727520" y="313632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Objective: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Traffic / Engagement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Format: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Carousel (Feed)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KPI: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Link Clicks &amp; CTR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8256960" y="1508760"/>
            <a:ext cx="3291480" cy="2834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9537120" y="1801440"/>
            <a:ext cx="731160" cy="73116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6" name="Image 2" descr="preencoded.png"/>
          <p:cNvPicPr/>
          <p:nvPr/>
        </p:nvPicPr>
        <p:blipFill>
          <a:blip r:embed="rId3"/>
          <a:stretch/>
        </p:blipFill>
        <p:spPr>
          <a:xfrm>
            <a:off x="9727560" y="1991520"/>
            <a:ext cx="350640" cy="3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4"/>
          <p:cNvSpPr/>
          <p:nvPr/>
        </p:nvSpPr>
        <p:spPr>
          <a:xfrm>
            <a:off x="8439840" y="26791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Conversion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8531280" y="313632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Objective: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Sales (Conversions)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Format: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Image + Retargeting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KPI: </a:t>
            </a: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Purchases &amp; ROAS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3950280" y="2514600"/>
            <a:ext cx="502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→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7754040" y="2514600"/>
            <a:ext cx="502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→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822960" y="46177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Together, these three campaigns move a potential customer from first impression to purchase — rather than asking one ad to do everything.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4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Campaign Objectives by Funnel Stage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What each stage is built to accomplish, and how it's measured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98" name="Table 0"/>
          <p:cNvGraphicFramePr/>
          <p:nvPr/>
        </p:nvGraphicFramePr>
        <p:xfrm>
          <a:off x="548640" y="1508760"/>
          <a:ext cx="11063880" cy="420588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286000"/>
                <a:gridCol w="2377440"/>
                <a:gridCol w="4114800"/>
                <a:gridCol w="2286000"/>
              </a:tblGrid>
              <a:tr h="84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Stage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Meta Objective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Primary Goal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KPI to Track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</a:tr>
              <a:tr h="84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Awareness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Brand Awareness / Reach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Introduce Lumora to a cold, relevant audience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CPM, Video Views, Reach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Consideration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Traffic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Educate on the 3-step routine; drive site visits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CTR, Link Clicks, CPC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</a:tr>
              <a:tr h="84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Conversion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Sales (Conversions)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Turn warm visitors into first-time buyers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Purchases, CPA, ROAS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Secondary (all stages)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Leads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Capture emails via 15%-off signup offer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Email Sign-ups, CPL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</a:tr>
            </a:tbl>
          </a:graphicData>
        </a:graphic>
      </p:graphicFrame>
      <p:sp>
        <p:nvSpPr>
          <p:cNvPr id="99" name="Text 4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5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Who We're Targeting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 focused audience built around clean-beauty intent, not just demographics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640080" y="1463040"/>
            <a:ext cx="456840" cy="45684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749880" y="15728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5"/>
          <p:cNvSpPr/>
          <p:nvPr/>
        </p:nvSpPr>
        <p:spPr>
          <a:xfrm>
            <a:off x="1298520" y="1426320"/>
            <a:ext cx="583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Demographics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1298520" y="1710000"/>
            <a:ext cx="5833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Ages 24–40, all genders (skew ~70% female). U.S. metro areas: New York, LA, Chicago, Austin, Seattle.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Shape 7"/>
          <p:cNvSpPr/>
          <p:nvPr/>
        </p:nvSpPr>
        <p:spPr>
          <a:xfrm>
            <a:off x="640080" y="2541960"/>
            <a:ext cx="456840" cy="45684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0" name="Image 1" descr="preencoded.png"/>
          <p:cNvPicPr/>
          <p:nvPr/>
        </p:nvPicPr>
        <p:blipFill>
          <a:blip r:embed="rId2"/>
          <a:stretch/>
        </p:blipFill>
        <p:spPr>
          <a:xfrm>
            <a:off x="749880" y="26517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8"/>
          <p:cNvSpPr/>
          <p:nvPr/>
        </p:nvSpPr>
        <p:spPr>
          <a:xfrm>
            <a:off x="1298520" y="2505600"/>
            <a:ext cx="583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Interests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1298520" y="2788920"/>
            <a:ext cx="5833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Clean beauty, skincare, sustainable living, wellness &amp; self-care, Sephora / Ulta engagement.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640080" y="362088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4" name="Image 2" descr="preencoded.png"/>
          <p:cNvPicPr/>
          <p:nvPr/>
        </p:nvPicPr>
        <p:blipFill>
          <a:blip r:embed="rId3"/>
          <a:stretch/>
        </p:blipFill>
        <p:spPr>
          <a:xfrm>
            <a:off x="749880" y="37306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1"/>
          <p:cNvSpPr/>
          <p:nvPr/>
        </p:nvSpPr>
        <p:spPr>
          <a:xfrm>
            <a:off x="1298520" y="3584520"/>
            <a:ext cx="583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Behaviors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1298520" y="3867840"/>
            <a:ext cx="5833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Engaged shoppers and frequent online shoppers — people primed to buy, not just browse.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Shape 13"/>
          <p:cNvSpPr/>
          <p:nvPr/>
        </p:nvSpPr>
        <p:spPr>
          <a:xfrm>
            <a:off x="640080" y="4700160"/>
            <a:ext cx="456840" cy="45684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8" name="Image 3" descr="preencoded.png"/>
          <p:cNvPicPr/>
          <p:nvPr/>
        </p:nvPicPr>
        <p:blipFill>
          <a:blip r:embed="rId4"/>
          <a:stretch/>
        </p:blipFill>
        <p:spPr>
          <a:xfrm>
            <a:off x="749880" y="480960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14"/>
          <p:cNvSpPr/>
          <p:nvPr/>
        </p:nvSpPr>
        <p:spPr>
          <a:xfrm>
            <a:off x="1298520" y="4663440"/>
            <a:ext cx="5833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Custom &amp; Lookalike Audiences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1298520" y="4946760"/>
            <a:ext cx="5833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Website visitors (180 days), email subscriber list, and a 1–3% lookalike built from early purchasers.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Shape 16"/>
          <p:cNvSpPr/>
          <p:nvPr/>
        </p:nvSpPr>
        <p:spPr>
          <a:xfrm>
            <a:off x="7452360" y="1463040"/>
            <a:ext cx="4114440" cy="4297320"/>
          </a:xfrm>
          <a:prstGeom prst="roundRect">
            <a:avLst>
              <a:gd name="adj" fmla="val 2222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7772400" y="18288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50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ESTIMATED REACH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7726680" y="2148840"/>
            <a:ext cx="3565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2f5d52"/>
                </a:solidFill>
                <a:uFillTx/>
                <a:latin typeface="Cambria"/>
                <a:ea typeface="Cambria"/>
              </a:rPr>
              <a:t>900K–1.1M</a:t>
            </a:r>
            <a:endParaRPr b="0" lang="en-US" sz="3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7772400" y="297180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Potential people reachable across core targeting before lookalike expansion.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 20"/>
          <p:cNvSpPr/>
          <p:nvPr/>
        </p:nvSpPr>
        <p:spPr>
          <a:xfrm>
            <a:off x="7772400" y="37947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19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CORE METRO AREAS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7772400" y="409644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New York · Los Angeles · Chicago · Austin · Seattle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 22"/>
          <p:cNvSpPr/>
          <p:nvPr/>
        </p:nvSpPr>
        <p:spPr>
          <a:xfrm>
            <a:off x="7772400" y="484632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Mobile-first delivery via Meta's Advantage+ placement defaults.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 23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 24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6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Budget Allocation &amp; Bidding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 practice budget split proportionally to funnel priority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34" name="Chart 0"/>
          <p:cNvGraphicFramePr/>
          <p:nvPr/>
        </p:nvGraphicFramePr>
        <p:xfrm>
          <a:off x="457200" y="1417320"/>
          <a:ext cx="548604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5" name="Shape 4"/>
          <p:cNvSpPr/>
          <p:nvPr/>
        </p:nvSpPr>
        <p:spPr>
          <a:xfrm>
            <a:off x="6400800" y="1463040"/>
            <a:ext cx="456840" cy="45684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2"/>
          <a:stretch/>
        </p:blipFill>
        <p:spPr>
          <a:xfrm>
            <a:off x="6510600" y="15728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5"/>
          <p:cNvSpPr/>
          <p:nvPr/>
        </p:nvSpPr>
        <p:spPr>
          <a:xfrm>
            <a:off x="7059240" y="142632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Total Practice Budget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7059240" y="1710000"/>
            <a:ext cx="4507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$1,200 across all three funnel-stage campaigns.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6400800" y="2487240"/>
            <a:ext cx="456840" cy="45684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0" name="Image 1" descr="preencoded.png"/>
          <p:cNvPicPr/>
          <p:nvPr/>
        </p:nvPicPr>
        <p:blipFill>
          <a:blip r:embed="rId3"/>
          <a:stretch/>
        </p:blipFill>
        <p:spPr>
          <a:xfrm>
            <a:off x="6510600" y="259704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8"/>
          <p:cNvSpPr/>
          <p:nvPr/>
        </p:nvSpPr>
        <p:spPr>
          <a:xfrm>
            <a:off x="7059240" y="245052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Campaign Duration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059240" y="2734200"/>
            <a:ext cx="4507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4 weeks (28 days) of simulated delivery.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6400800" y="3511440"/>
            <a:ext cx="456840" cy="45684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4" name="Image 2" descr="preencoded.png"/>
          <p:cNvPicPr/>
          <p:nvPr/>
        </p:nvPicPr>
        <p:blipFill>
          <a:blip r:embed="rId4"/>
          <a:stretch/>
        </p:blipFill>
        <p:spPr>
          <a:xfrm>
            <a:off x="6510600" y="36208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11"/>
          <p:cNvSpPr/>
          <p:nvPr/>
        </p:nvSpPr>
        <p:spPr>
          <a:xfrm>
            <a:off x="7059240" y="347472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Daily Average Spend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7059240" y="3758040"/>
            <a:ext cx="4507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Roughly $43/day, scaled by Campaign Budget Optimization (CBO).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6400800" y="4535280"/>
            <a:ext cx="456840" cy="45684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8" name="Image 3" descr="preencoded.png"/>
          <p:cNvPicPr/>
          <p:nvPr/>
        </p:nvPicPr>
        <p:blipFill>
          <a:blip r:embed="rId5"/>
          <a:stretch/>
        </p:blipFill>
        <p:spPr>
          <a:xfrm>
            <a:off x="6510600" y="464508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14"/>
          <p:cNvSpPr/>
          <p:nvPr/>
        </p:nvSpPr>
        <p:spPr>
          <a:xfrm>
            <a:off x="7059240" y="4498920"/>
            <a:ext cx="450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Bid Strategy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7059240" y="4782240"/>
            <a:ext cx="4507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Cost Cap targeting a ~$18 cost-per-purchase once the conversion stage exits the learning phase.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7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Creative Formats Across the Funnel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Matching ad format to what each stage needs to communicate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57" name="Table 0"/>
          <p:cNvGraphicFramePr/>
          <p:nvPr/>
        </p:nvGraphicFramePr>
        <p:xfrm>
          <a:off x="548640" y="1554480"/>
          <a:ext cx="11063880" cy="32918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377440"/>
                <a:gridCol w="2743200"/>
                <a:gridCol w="3200400"/>
                <a:gridCol w="2743200"/>
              </a:tblGrid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Funnel Stage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Ad Format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Placement Focus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Primary Goal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</a:tr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Awareness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15-second Video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Reels, Stories, In-Stream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Brand storytelling &amp; reach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Consideration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Carousel (3 cards)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Feed, Marketplace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Educate on the routine; drive clicks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</a:tr>
              <a:tr h="822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Conversion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Single Image + Retargeting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Feed, Stories, Audience Network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Drive purchases; maximize ROAS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" name="Text 4"/>
          <p:cNvSpPr/>
          <p:nvPr/>
        </p:nvSpPr>
        <p:spPr>
          <a:xfrm>
            <a:off x="548640" y="507492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All three formats are produced for every relevant aspect ratio (1:1, 4:5, 9:16) so delivery isn't limited by missing creative sizes.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8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Creative Concept 1: “Glow Up”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Single image ad — Conversion stage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640080" y="1325880"/>
            <a:ext cx="4663080" cy="49831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>
            <a:off x="868680" y="1554480"/>
            <a:ext cx="365400" cy="36540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67" name="Image 0" descr="preencoded.png"/>
          <p:cNvPicPr/>
          <p:nvPr/>
        </p:nvPicPr>
        <p:blipFill>
          <a:blip r:embed="rId1"/>
          <a:stretch/>
        </p:blipFill>
        <p:spPr>
          <a:xfrm>
            <a:off x="951120" y="1636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6"/>
          <p:cNvSpPr/>
          <p:nvPr/>
        </p:nvSpPr>
        <p:spPr>
          <a:xfrm>
            <a:off x="1325880" y="152712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Lumora Skincare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1325880" y="175572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Sponsored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868680" y="2039040"/>
            <a:ext cx="4205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Your skin deserves better mornings. ✨ The Vitamin C Glow Serum brightens and hydrates in a 60-second step. 15% off your first order — today only.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Shape 9"/>
          <p:cNvSpPr/>
          <p:nvPr/>
        </p:nvSpPr>
        <p:spPr>
          <a:xfrm>
            <a:off x="868680" y="2807280"/>
            <a:ext cx="4205880" cy="21484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Shape 10"/>
          <p:cNvSpPr/>
          <p:nvPr/>
        </p:nvSpPr>
        <p:spPr>
          <a:xfrm>
            <a:off x="2651760" y="3310200"/>
            <a:ext cx="639720" cy="63972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3" name="Image 1" descr="preencoded.png"/>
          <p:cNvPicPr/>
          <p:nvPr/>
        </p:nvPicPr>
        <p:blipFill>
          <a:blip r:embed="rId2"/>
          <a:stretch/>
        </p:blipFill>
        <p:spPr>
          <a:xfrm>
            <a:off x="2811960" y="34700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11"/>
          <p:cNvSpPr/>
          <p:nvPr/>
        </p:nvSpPr>
        <p:spPr>
          <a:xfrm>
            <a:off x="1005840" y="408744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[ Product flat-lay — marble surface, soft morning light ]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868680" y="50749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Lumora Skincare  |  Glow Starts Here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868680" y="54133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lumoraskincare.com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3749040" y="5385960"/>
            <a:ext cx="1325520" cy="383760"/>
          </a:xfrm>
          <a:prstGeom prst="roundRect">
            <a:avLst>
              <a:gd name="adj" fmla="val 16667"/>
            </a:avLst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3749040" y="538596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Shop Now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5577840" y="1325880"/>
            <a:ext cx="598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Why This Works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5577840" y="1874520"/>
            <a:ext cx="411120" cy="411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1" name="Image 2" descr="preencoded.png"/>
          <p:cNvPicPr/>
          <p:nvPr/>
        </p:nvPicPr>
        <p:blipFill>
          <a:blip r:embed="rId3"/>
          <a:stretch/>
        </p:blipFill>
        <p:spPr>
          <a:xfrm>
            <a:off x="5676480" y="197316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18"/>
          <p:cNvSpPr/>
          <p:nvPr/>
        </p:nvSpPr>
        <p:spPr>
          <a:xfrm>
            <a:off x="6190560" y="183780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Objective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6190560" y="212148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Sales (Conversions) — the bottom-of-funnel ask.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Shape 20"/>
          <p:cNvSpPr/>
          <p:nvPr/>
        </p:nvSpPr>
        <p:spPr>
          <a:xfrm>
            <a:off x="5577840" y="2834640"/>
            <a:ext cx="411120" cy="411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5" name="Image 3" descr="preencoded.png"/>
          <p:cNvPicPr/>
          <p:nvPr/>
        </p:nvPicPr>
        <p:blipFill>
          <a:blip r:embed="rId4"/>
          <a:stretch/>
        </p:blipFill>
        <p:spPr>
          <a:xfrm>
            <a:off x="5676480" y="293328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21"/>
          <p:cNvSpPr/>
          <p:nvPr/>
        </p:nvSpPr>
        <p:spPr>
          <a:xfrm>
            <a:off x="6190560" y="279792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Text 22"/>
          <p:cNvSpPr/>
          <p:nvPr/>
        </p:nvSpPr>
        <p:spPr>
          <a:xfrm>
            <a:off x="6190560" y="308160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Core interest-based targeting now; warm retargeting once site-visitor data builds.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Shape 23"/>
          <p:cNvSpPr/>
          <p:nvPr/>
        </p:nvSpPr>
        <p:spPr>
          <a:xfrm>
            <a:off x="5577840" y="3794760"/>
            <a:ext cx="411120" cy="411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9" name="Image 4" descr="preencoded.png"/>
          <p:cNvPicPr/>
          <p:nvPr/>
        </p:nvPicPr>
        <p:blipFill>
          <a:blip r:embed="rId5"/>
          <a:stretch/>
        </p:blipFill>
        <p:spPr>
          <a:xfrm>
            <a:off x="5676480" y="389340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24"/>
          <p:cNvSpPr/>
          <p:nvPr/>
        </p:nvSpPr>
        <p:spPr>
          <a:xfrm>
            <a:off x="6190560" y="375804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Placement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6190560" y="404172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Facebook &amp; Instagram Feed, Stories.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Shape 26"/>
          <p:cNvSpPr/>
          <p:nvPr/>
        </p:nvSpPr>
        <p:spPr>
          <a:xfrm>
            <a:off x="5577840" y="4754880"/>
            <a:ext cx="411120" cy="411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3" name="Image 5" descr="preencoded.png"/>
          <p:cNvPicPr/>
          <p:nvPr/>
        </p:nvPicPr>
        <p:blipFill>
          <a:blip r:embed="rId6"/>
          <a:stretch/>
        </p:blipFill>
        <p:spPr>
          <a:xfrm>
            <a:off x="5676480" y="485352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27"/>
          <p:cNvSpPr/>
          <p:nvPr/>
        </p:nvSpPr>
        <p:spPr>
          <a:xfrm>
            <a:off x="6190560" y="471816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Hook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Text 28"/>
          <p:cNvSpPr/>
          <p:nvPr/>
        </p:nvSpPr>
        <p:spPr>
          <a:xfrm>
            <a:off x="6190560" y="500184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 clean product visual plus a clear, time-limited offer to create urgency.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Text 29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Text 30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9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7"/>
          <a:stretch/>
        </p:blipFill>
        <p:spPr>
          <a:xfrm>
            <a:off x="767880" y="2666880"/>
            <a:ext cx="4324680" cy="235224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Creative Concept 2: “3-Step Glow Routine”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Carousel ad — Consideration stage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640080" y="1325880"/>
            <a:ext cx="4663080" cy="49831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868680" y="1554480"/>
            <a:ext cx="365400" cy="36540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05" name="Image 0" descr="preencoded.png"/>
          <p:cNvPicPr/>
          <p:nvPr/>
        </p:nvPicPr>
        <p:blipFill>
          <a:blip r:embed="rId1"/>
          <a:stretch/>
        </p:blipFill>
        <p:spPr>
          <a:xfrm>
            <a:off x="951120" y="1636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 6"/>
          <p:cNvSpPr/>
          <p:nvPr/>
        </p:nvSpPr>
        <p:spPr>
          <a:xfrm>
            <a:off x="1325880" y="152712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Lumora Skincare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1325880" y="175572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Sponsored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868680" y="2039040"/>
            <a:ext cx="4205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Glow doesn't happen by accident. Here's your 3-step morning ritual — swipe through →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868680" y="2807280"/>
            <a:ext cx="1298160" cy="1691280"/>
          </a:xfrm>
          <a:prstGeom prst="roundRect">
            <a:avLst>
              <a:gd name="adj" fmla="val 4225"/>
            </a:avLst>
          </a:prstGeom>
          <a:solidFill>
            <a:srgbClr val="eef5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Shape 10"/>
          <p:cNvSpPr/>
          <p:nvPr/>
        </p:nvSpPr>
        <p:spPr>
          <a:xfrm>
            <a:off x="1243440" y="300852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2"/>
          <a:stretch/>
        </p:blipFill>
        <p:spPr>
          <a:xfrm>
            <a:off x="1380600" y="3145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11"/>
          <p:cNvSpPr/>
          <p:nvPr/>
        </p:nvSpPr>
        <p:spPr>
          <a:xfrm>
            <a:off x="914400" y="3721680"/>
            <a:ext cx="1206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1. Cleanse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2313360" y="2807280"/>
            <a:ext cx="1298160" cy="1691280"/>
          </a:xfrm>
          <a:prstGeom prst="roundRect">
            <a:avLst>
              <a:gd name="adj" fmla="val 4225"/>
            </a:avLst>
          </a:prstGeom>
          <a:solidFill>
            <a:srgbClr val="eef5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2688480" y="300852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15" name="Image 2" descr="preencoded.png"/>
          <p:cNvPicPr/>
          <p:nvPr/>
        </p:nvPicPr>
        <p:blipFill>
          <a:blip r:embed="rId3"/>
          <a:stretch/>
        </p:blipFill>
        <p:spPr>
          <a:xfrm>
            <a:off x="2825640" y="3145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14"/>
          <p:cNvSpPr/>
          <p:nvPr/>
        </p:nvSpPr>
        <p:spPr>
          <a:xfrm>
            <a:off x="2359080" y="3721680"/>
            <a:ext cx="1206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2. Glow Serum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3758040" y="2807280"/>
            <a:ext cx="1298160" cy="1691280"/>
          </a:xfrm>
          <a:prstGeom prst="roundRect">
            <a:avLst>
              <a:gd name="adj" fmla="val 4225"/>
            </a:avLst>
          </a:prstGeom>
          <a:solidFill>
            <a:srgbClr val="eef5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4133160" y="300852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19" name="Image 3" descr="preencoded.png"/>
          <p:cNvPicPr/>
          <p:nvPr/>
        </p:nvPicPr>
        <p:blipFill>
          <a:blip r:embed="rId4"/>
          <a:stretch/>
        </p:blipFill>
        <p:spPr>
          <a:xfrm>
            <a:off x="4270320" y="31456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7"/>
          <p:cNvSpPr/>
          <p:nvPr/>
        </p:nvSpPr>
        <p:spPr>
          <a:xfrm>
            <a:off x="3803760" y="3721680"/>
            <a:ext cx="1206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3. Protect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Text 18"/>
          <p:cNvSpPr/>
          <p:nvPr/>
        </p:nvSpPr>
        <p:spPr>
          <a:xfrm>
            <a:off x="868680" y="460872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Card 1 of 3  →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868680" y="49561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Lumora Skincare  |  Learn the Routine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Shape 20"/>
          <p:cNvSpPr/>
          <p:nvPr/>
        </p:nvSpPr>
        <p:spPr>
          <a:xfrm>
            <a:off x="3749040" y="5276160"/>
            <a:ext cx="1325520" cy="383760"/>
          </a:xfrm>
          <a:prstGeom prst="roundRect">
            <a:avLst>
              <a:gd name="adj" fmla="val 16667"/>
            </a:avLst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4" name="Text 21"/>
          <p:cNvSpPr/>
          <p:nvPr/>
        </p:nvSpPr>
        <p:spPr>
          <a:xfrm>
            <a:off x="3749040" y="527616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Learn More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Text 22"/>
          <p:cNvSpPr/>
          <p:nvPr/>
        </p:nvSpPr>
        <p:spPr>
          <a:xfrm>
            <a:off x="5577840" y="1325880"/>
            <a:ext cx="598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Why This Works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Shape 23"/>
          <p:cNvSpPr/>
          <p:nvPr/>
        </p:nvSpPr>
        <p:spPr>
          <a:xfrm>
            <a:off x="5577840" y="1874520"/>
            <a:ext cx="411120" cy="41112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27" name="Image 4" descr="preencoded.png"/>
          <p:cNvPicPr/>
          <p:nvPr/>
        </p:nvPicPr>
        <p:blipFill>
          <a:blip r:embed="rId5"/>
          <a:stretch/>
        </p:blipFill>
        <p:spPr>
          <a:xfrm>
            <a:off x="5676480" y="197316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24"/>
          <p:cNvSpPr/>
          <p:nvPr/>
        </p:nvSpPr>
        <p:spPr>
          <a:xfrm>
            <a:off x="6190560" y="183780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Objective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Text 25"/>
          <p:cNvSpPr/>
          <p:nvPr/>
        </p:nvSpPr>
        <p:spPr>
          <a:xfrm>
            <a:off x="6190560" y="212148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Traffic — educate and move people to the product page.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Shape 26"/>
          <p:cNvSpPr/>
          <p:nvPr/>
        </p:nvSpPr>
        <p:spPr>
          <a:xfrm>
            <a:off x="5577840" y="2834640"/>
            <a:ext cx="411120" cy="41112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1" name="Image 5" descr="preencoded.png"/>
          <p:cNvPicPr/>
          <p:nvPr/>
        </p:nvPicPr>
        <p:blipFill>
          <a:blip r:embed="rId6"/>
          <a:stretch/>
        </p:blipFill>
        <p:spPr>
          <a:xfrm>
            <a:off x="5676480" y="293328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7"/>
          <p:cNvSpPr/>
          <p:nvPr/>
        </p:nvSpPr>
        <p:spPr>
          <a:xfrm>
            <a:off x="6190560" y="279792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Text 28"/>
          <p:cNvSpPr/>
          <p:nvPr/>
        </p:nvSpPr>
        <p:spPr>
          <a:xfrm>
            <a:off x="6190560" y="308160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Broader interest-based audience layered with engaged shoppers.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Shape 29"/>
          <p:cNvSpPr/>
          <p:nvPr/>
        </p:nvSpPr>
        <p:spPr>
          <a:xfrm>
            <a:off x="5577840" y="3794760"/>
            <a:ext cx="411120" cy="41112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5" name="Image 6" descr="preencoded.png"/>
          <p:cNvPicPr/>
          <p:nvPr/>
        </p:nvPicPr>
        <p:blipFill>
          <a:blip r:embed="rId7"/>
          <a:stretch/>
        </p:blipFill>
        <p:spPr>
          <a:xfrm>
            <a:off x="5676480" y="389340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 30"/>
          <p:cNvSpPr/>
          <p:nvPr/>
        </p:nvSpPr>
        <p:spPr>
          <a:xfrm>
            <a:off x="6190560" y="375804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Format Fit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6190560" y="404172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Carousels reward swipe engagement and let each step earn its own card.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5577840" y="4754880"/>
            <a:ext cx="411120" cy="41112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9" name="Image 7" descr="preencoded.png"/>
          <p:cNvPicPr/>
          <p:nvPr/>
        </p:nvPicPr>
        <p:blipFill>
          <a:blip r:embed="rId8"/>
          <a:stretch/>
        </p:blipFill>
        <p:spPr>
          <a:xfrm>
            <a:off x="5676480" y="485352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33"/>
          <p:cNvSpPr/>
          <p:nvPr/>
        </p:nvSpPr>
        <p:spPr>
          <a:xfrm>
            <a:off x="6190560" y="471816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Placement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Text 34"/>
          <p:cNvSpPr/>
          <p:nvPr/>
        </p:nvSpPr>
        <p:spPr>
          <a:xfrm>
            <a:off x="6190560" y="500184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Facebook Feed and Marketplace, where carousels perform best.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Text 35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Text 36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10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Creative Concept 3: “Real Skin, Real Results”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15-second UGC-style video — Awareness stage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Shape 4"/>
          <p:cNvSpPr/>
          <p:nvPr/>
        </p:nvSpPr>
        <p:spPr>
          <a:xfrm>
            <a:off x="640080" y="1325880"/>
            <a:ext cx="4663080" cy="498312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Shape 5"/>
          <p:cNvSpPr/>
          <p:nvPr/>
        </p:nvSpPr>
        <p:spPr>
          <a:xfrm>
            <a:off x="868680" y="1554480"/>
            <a:ext cx="365400" cy="36540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0" name="Image 0" descr="preencoded.png"/>
          <p:cNvPicPr/>
          <p:nvPr/>
        </p:nvPicPr>
        <p:blipFill>
          <a:blip r:embed="rId1"/>
          <a:stretch/>
        </p:blipFill>
        <p:spPr>
          <a:xfrm>
            <a:off x="951120" y="16369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6"/>
          <p:cNvSpPr/>
          <p:nvPr/>
        </p:nvSpPr>
        <p:spPr>
          <a:xfrm>
            <a:off x="1325880" y="1527120"/>
            <a:ext cx="3748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Lumora Skincare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1325880" y="175572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Sponsored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868680" y="2039040"/>
            <a:ext cx="4205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Real skin. Real routine. Real results. Use code WELCOME15 for 15% off your first Lumora order.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868680" y="2807280"/>
            <a:ext cx="1298160" cy="1782720"/>
          </a:xfrm>
          <a:prstGeom prst="roundRect">
            <a:avLst>
              <a:gd name="adj" fmla="val 4225"/>
            </a:avLst>
          </a:prstGeom>
          <a:solidFill>
            <a:srgbClr val="eef5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1271160" y="2971800"/>
            <a:ext cx="493560" cy="49356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6" name="Image 1" descr="preencoded.png"/>
          <p:cNvPicPr/>
          <p:nvPr/>
        </p:nvPicPr>
        <p:blipFill>
          <a:blip r:embed="rId2"/>
          <a:stretch/>
        </p:blipFill>
        <p:spPr>
          <a:xfrm>
            <a:off x="1394640" y="309528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11"/>
          <p:cNvSpPr/>
          <p:nvPr/>
        </p:nvSpPr>
        <p:spPr>
          <a:xfrm>
            <a:off x="914400" y="3538800"/>
            <a:ext cx="120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0–5s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914400" y="3758040"/>
            <a:ext cx="120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Hook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914400" y="3977640"/>
            <a:ext cx="1206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Relatable morning-skin frustration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Shape 14"/>
          <p:cNvSpPr/>
          <p:nvPr/>
        </p:nvSpPr>
        <p:spPr>
          <a:xfrm>
            <a:off x="2313360" y="2807280"/>
            <a:ext cx="1298160" cy="1782720"/>
          </a:xfrm>
          <a:prstGeom prst="roundRect">
            <a:avLst>
              <a:gd name="adj" fmla="val 4225"/>
            </a:avLst>
          </a:prstGeom>
          <a:solidFill>
            <a:srgbClr val="eef5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2715840" y="2971800"/>
            <a:ext cx="493560" cy="49356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2" name="Image 2" descr="preencoded.png"/>
          <p:cNvPicPr/>
          <p:nvPr/>
        </p:nvPicPr>
        <p:blipFill>
          <a:blip r:embed="rId3"/>
          <a:stretch/>
        </p:blipFill>
        <p:spPr>
          <a:xfrm>
            <a:off x="2839320" y="309528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16"/>
          <p:cNvSpPr/>
          <p:nvPr/>
        </p:nvSpPr>
        <p:spPr>
          <a:xfrm>
            <a:off x="2359080" y="3538800"/>
            <a:ext cx="120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5–10s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Text 17"/>
          <p:cNvSpPr/>
          <p:nvPr/>
        </p:nvSpPr>
        <p:spPr>
          <a:xfrm>
            <a:off x="2359080" y="3758040"/>
            <a:ext cx="120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Demo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Text 18"/>
          <p:cNvSpPr/>
          <p:nvPr/>
        </p:nvSpPr>
        <p:spPr>
          <a:xfrm>
            <a:off x="2359080" y="3977640"/>
            <a:ext cx="1206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Serum applied; visible glow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Shape 19"/>
          <p:cNvSpPr/>
          <p:nvPr/>
        </p:nvSpPr>
        <p:spPr>
          <a:xfrm>
            <a:off x="3758040" y="2807280"/>
            <a:ext cx="1298160" cy="1782720"/>
          </a:xfrm>
          <a:prstGeom prst="roundRect">
            <a:avLst>
              <a:gd name="adj" fmla="val 4225"/>
            </a:avLst>
          </a:prstGeom>
          <a:solidFill>
            <a:srgbClr val="eef5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Shape 20"/>
          <p:cNvSpPr/>
          <p:nvPr/>
        </p:nvSpPr>
        <p:spPr>
          <a:xfrm>
            <a:off x="4160520" y="2971800"/>
            <a:ext cx="493560" cy="49356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8" name="Image 3" descr="preencoded.png"/>
          <p:cNvPicPr/>
          <p:nvPr/>
        </p:nvPicPr>
        <p:blipFill>
          <a:blip r:embed="rId4"/>
          <a:stretch/>
        </p:blipFill>
        <p:spPr>
          <a:xfrm>
            <a:off x="4284000" y="3095280"/>
            <a:ext cx="246600" cy="24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21"/>
          <p:cNvSpPr/>
          <p:nvPr/>
        </p:nvSpPr>
        <p:spPr>
          <a:xfrm>
            <a:off x="3803760" y="3538800"/>
            <a:ext cx="120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10–15s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Text 22"/>
          <p:cNvSpPr/>
          <p:nvPr/>
        </p:nvSpPr>
        <p:spPr>
          <a:xfrm>
            <a:off x="3803760" y="3758040"/>
            <a:ext cx="1206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CTA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Text 23"/>
          <p:cNvSpPr/>
          <p:nvPr/>
        </p:nvSpPr>
        <p:spPr>
          <a:xfrm>
            <a:off x="3803760" y="3977640"/>
            <a:ext cx="1206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Discount code + Shop Now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Text 24"/>
          <p:cNvSpPr/>
          <p:nvPr/>
        </p:nvSpPr>
        <p:spPr>
          <a:xfrm>
            <a:off x="868680" y="47275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Lumora Skincare  |  Glow Starts Here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Shape 25"/>
          <p:cNvSpPr/>
          <p:nvPr/>
        </p:nvSpPr>
        <p:spPr>
          <a:xfrm>
            <a:off x="3749040" y="5047560"/>
            <a:ext cx="1325520" cy="383760"/>
          </a:xfrm>
          <a:prstGeom prst="roundRect">
            <a:avLst>
              <a:gd name="adj" fmla="val 16667"/>
            </a:avLst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4" name="Text 26"/>
          <p:cNvSpPr/>
          <p:nvPr/>
        </p:nvSpPr>
        <p:spPr>
          <a:xfrm>
            <a:off x="3749040" y="504756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Shop Now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5577840" y="1325880"/>
            <a:ext cx="598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Why This Works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Shape 28"/>
          <p:cNvSpPr/>
          <p:nvPr/>
        </p:nvSpPr>
        <p:spPr>
          <a:xfrm>
            <a:off x="5577840" y="1874520"/>
            <a:ext cx="411120" cy="41112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7" name="Image 4" descr="preencoded.png"/>
          <p:cNvPicPr/>
          <p:nvPr/>
        </p:nvPicPr>
        <p:blipFill>
          <a:blip r:embed="rId5"/>
          <a:stretch/>
        </p:blipFill>
        <p:spPr>
          <a:xfrm>
            <a:off x="5676480" y="197316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29"/>
          <p:cNvSpPr/>
          <p:nvPr/>
        </p:nvSpPr>
        <p:spPr>
          <a:xfrm>
            <a:off x="6190560" y="183780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Objective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Text 30"/>
          <p:cNvSpPr/>
          <p:nvPr/>
        </p:nvSpPr>
        <p:spPr>
          <a:xfrm>
            <a:off x="6190560" y="212148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Brand Awareness / Reach — the top of the funnel.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Shape 31"/>
          <p:cNvSpPr/>
          <p:nvPr/>
        </p:nvSpPr>
        <p:spPr>
          <a:xfrm>
            <a:off x="5577840" y="2834640"/>
            <a:ext cx="411120" cy="41112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1" name="Image 5" descr="preencoded.png"/>
          <p:cNvPicPr/>
          <p:nvPr/>
        </p:nvPicPr>
        <p:blipFill>
          <a:blip r:embed="rId6"/>
          <a:stretch/>
        </p:blipFill>
        <p:spPr>
          <a:xfrm>
            <a:off x="5676480" y="293328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32"/>
          <p:cNvSpPr/>
          <p:nvPr/>
        </p:nvSpPr>
        <p:spPr>
          <a:xfrm>
            <a:off x="6190560" y="279792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Text 33"/>
          <p:cNvSpPr/>
          <p:nvPr/>
        </p:nvSpPr>
        <p:spPr>
          <a:xfrm>
            <a:off x="6190560" y="308160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Broad clean-beauty and wellness interest targeting.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Shape 34"/>
          <p:cNvSpPr/>
          <p:nvPr/>
        </p:nvSpPr>
        <p:spPr>
          <a:xfrm>
            <a:off x="5577840" y="3794760"/>
            <a:ext cx="411120" cy="41112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5" name="Image 6" descr="preencoded.png"/>
          <p:cNvPicPr/>
          <p:nvPr/>
        </p:nvPicPr>
        <p:blipFill>
          <a:blip r:embed="rId7"/>
          <a:stretch/>
        </p:blipFill>
        <p:spPr>
          <a:xfrm>
            <a:off x="5676480" y="389340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 35"/>
          <p:cNvSpPr/>
          <p:nvPr/>
        </p:nvSpPr>
        <p:spPr>
          <a:xfrm>
            <a:off x="6190560" y="375804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Format Fit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Text 36"/>
          <p:cNvSpPr/>
          <p:nvPr/>
        </p:nvSpPr>
        <p:spPr>
          <a:xfrm>
            <a:off x="6190560" y="404172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Native, UGC-style video builds trust faster than polished studio footage.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Shape 37"/>
          <p:cNvSpPr/>
          <p:nvPr/>
        </p:nvSpPr>
        <p:spPr>
          <a:xfrm>
            <a:off x="5577840" y="4754880"/>
            <a:ext cx="411120" cy="41112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9" name="Image 7" descr="preencoded.png"/>
          <p:cNvPicPr/>
          <p:nvPr/>
        </p:nvPicPr>
        <p:blipFill>
          <a:blip r:embed="rId8"/>
          <a:stretch/>
        </p:blipFill>
        <p:spPr>
          <a:xfrm>
            <a:off x="5676480" y="4853520"/>
            <a:ext cx="213480" cy="21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38"/>
          <p:cNvSpPr/>
          <p:nvPr/>
        </p:nvSpPr>
        <p:spPr>
          <a:xfrm>
            <a:off x="6190560" y="4718160"/>
            <a:ext cx="537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Placement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Text 39"/>
          <p:cNvSpPr/>
          <p:nvPr/>
        </p:nvSpPr>
        <p:spPr>
          <a:xfrm>
            <a:off x="6190560" y="5001840"/>
            <a:ext cx="5376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Reels, Stories, and in-stream video for full-screen attention.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Text 40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3" name="Text 41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11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9"/>
          <a:stretch/>
        </p:blipFill>
        <p:spPr>
          <a:xfrm>
            <a:off x="703080" y="2781360"/>
            <a:ext cx="4410000" cy="191124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Campaign Structure in Ads Manager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Three campaigns, each with its own ad set and creative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548640" y="1417320"/>
            <a:ext cx="3520080" cy="4708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Text 5"/>
          <p:cNvSpPr/>
          <p:nvPr/>
        </p:nvSpPr>
        <p:spPr>
          <a:xfrm>
            <a:off x="822960" y="16185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f5d52"/>
                </a:solidFill>
                <a:uFillTx/>
                <a:latin typeface="Cambria"/>
                <a:ea typeface="Cambria"/>
              </a:rPr>
              <a:t>Awareness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822960" y="21304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CAMPAIGN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822960" y="236844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Objective: Brand Awareness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822960" y="289872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AD SET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822960" y="3136320"/>
            <a:ext cx="2971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Budget: $360 (30%)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Audience: Broad interest-based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Placement: Reels, Stories, In-stream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822960" y="45446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6" name="Text 11"/>
          <p:cNvSpPr/>
          <p:nvPr/>
        </p:nvSpPr>
        <p:spPr>
          <a:xfrm>
            <a:off x="822960" y="478224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Format: 15s Video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Creative: “Real Skin, Real Results”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CTA: Shop Now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Shape 12"/>
          <p:cNvSpPr/>
          <p:nvPr/>
        </p:nvSpPr>
        <p:spPr>
          <a:xfrm>
            <a:off x="4343400" y="1417320"/>
            <a:ext cx="3520080" cy="4708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4617720" y="16185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4f7b73"/>
                </a:solidFill>
                <a:uFillTx/>
                <a:latin typeface="Cambria"/>
                <a:ea typeface="Cambria"/>
              </a:rPr>
              <a:t>Consideration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4617720" y="21304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CAMPAIGN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4617720" y="236844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Objective: Traffic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Text 16"/>
          <p:cNvSpPr/>
          <p:nvPr/>
        </p:nvSpPr>
        <p:spPr>
          <a:xfrm>
            <a:off x="4617720" y="289872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AD SET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Text 17"/>
          <p:cNvSpPr/>
          <p:nvPr/>
        </p:nvSpPr>
        <p:spPr>
          <a:xfrm>
            <a:off x="4617720" y="3136320"/>
            <a:ext cx="2971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Budget: $360 (30%)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Audience: Engaged shoppers + site visitors (30d)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Placement: Feed, Marketplace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Text 18"/>
          <p:cNvSpPr/>
          <p:nvPr/>
        </p:nvSpPr>
        <p:spPr>
          <a:xfrm>
            <a:off x="4617720" y="45446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4" name="Text 19"/>
          <p:cNvSpPr/>
          <p:nvPr/>
        </p:nvSpPr>
        <p:spPr>
          <a:xfrm>
            <a:off x="4617720" y="478224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Format: Carousel (3 cards)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Creative: “3-Step Glow Routine”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CTA: Learn More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5" name="Shape 20"/>
          <p:cNvSpPr/>
          <p:nvPr/>
        </p:nvSpPr>
        <p:spPr>
          <a:xfrm>
            <a:off x="8138160" y="1417320"/>
            <a:ext cx="3520080" cy="47088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Text 21"/>
          <p:cNvSpPr/>
          <p:nvPr/>
        </p:nvSpPr>
        <p:spPr>
          <a:xfrm>
            <a:off x="8412480" y="16185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c8923a"/>
                </a:solidFill>
                <a:uFillTx/>
                <a:latin typeface="Cambria"/>
                <a:ea typeface="Cambria"/>
              </a:rPr>
              <a:t>Conversion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Text 22"/>
          <p:cNvSpPr/>
          <p:nvPr/>
        </p:nvSpPr>
        <p:spPr>
          <a:xfrm>
            <a:off x="8412480" y="21304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CAMPAIGN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8412480" y="2368440"/>
            <a:ext cx="2971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Objective: Sales (Conversions)</a:t>
            </a:r>
            <a:endParaRPr b="0" lang="en-US" sz="11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Text 24"/>
          <p:cNvSpPr/>
          <p:nvPr/>
        </p:nvSpPr>
        <p:spPr>
          <a:xfrm>
            <a:off x="8412480" y="289872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AD SET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Text 25"/>
          <p:cNvSpPr/>
          <p:nvPr/>
        </p:nvSpPr>
        <p:spPr>
          <a:xfrm>
            <a:off x="8412480" y="3136320"/>
            <a:ext cx="2971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Budget: $480 (40%)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Audience: Retargeting (14d) + 1% LAL purchasers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Placement: Feed, Stories, Audience Network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Text 26"/>
          <p:cNvSpPr/>
          <p:nvPr/>
        </p:nvSpPr>
        <p:spPr>
          <a:xfrm>
            <a:off x="8412480" y="45446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AD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Text 27"/>
          <p:cNvSpPr/>
          <p:nvPr/>
        </p:nvSpPr>
        <p:spPr>
          <a:xfrm>
            <a:off x="8412480" y="4782240"/>
            <a:ext cx="2971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Format: Single Image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Creative: “Glow Up” + discount code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Font typeface="Symbol" charset="2"/>
              <a:buChar char=""/>
            </a:pPr>
            <a:r>
              <a:rPr b="0" lang="en-US" sz="108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CTA: Shop Now</a:t>
            </a:r>
            <a:endParaRPr b="0" lang="en-US" sz="10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Text 28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Text 29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12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Detailed Targeting &amp; Placements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The full parameter set, as it would be entered in Ads Manager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329" name="Table 0"/>
          <p:cNvGraphicFramePr/>
          <p:nvPr/>
        </p:nvGraphicFramePr>
        <p:xfrm>
          <a:off x="548640" y="1371600"/>
          <a:ext cx="11063880" cy="493740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743200"/>
                <a:gridCol w="8321040"/>
              </a:tblGrid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Parameter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Setting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2f5d52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Locations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United States — metro radius around New York, LA, Chicago, Austin, Seattle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Age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24–40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Gender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All (skewed ~70% female in delivery)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Interests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Clean beauty, skincare, sustainable living, wellness &amp; self-care, Sephora / Ulta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Behaviors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Engaged shoppers, frequent online shoppers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Custom Audiences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Website visitors (180 days), email subscriber list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Lookalike Audiences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1–3% LAL from purchasers / email list (introduced Week 3+)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Placements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Advantage+ (Automatic): Feed, Stories, Reels, Marketplace, Audience Network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eef5f1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Devices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23312d"/>
                          </a:solidFill>
                          <a:uFillTx/>
                          <a:latin typeface="Calibri"/>
                          <a:ea typeface="Calibri"/>
                        </a:rPr>
                        <a:t>Mobile-first via Advantage+ defaults; no manual device restriction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1"/>
                      </a:solidFill>
                      <a:prstDash val="solid"/>
                    </a:lnL>
                    <a:lnR w="9360">
                      <a:solidFill>
                        <a:srgbClr val="dce6e1"/>
                      </a:solidFill>
                      <a:prstDash val="solid"/>
                    </a:lnR>
                    <a:lnT w="9360">
                      <a:solidFill>
                        <a:srgbClr val="dce6e1"/>
                      </a:solidFill>
                      <a:prstDash val="solid"/>
                    </a:lnT>
                    <a:lnB w="9360">
                      <a:solidFill>
                        <a:srgbClr val="dce6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0" name="Text 4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Text 5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13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Optimization &amp; A/B Testing Plan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How the campaign would improve itself over the 4-week run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Shape 4"/>
          <p:cNvSpPr/>
          <p:nvPr/>
        </p:nvSpPr>
        <p:spPr>
          <a:xfrm>
            <a:off x="548640" y="146304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Shape 5"/>
          <p:cNvSpPr/>
          <p:nvPr/>
        </p:nvSpPr>
        <p:spPr>
          <a:xfrm>
            <a:off x="822960" y="1737360"/>
            <a:ext cx="548280" cy="54828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38" name="Image 0" descr="preencoded.png"/>
          <p:cNvPicPr/>
          <p:nvPr/>
        </p:nvPicPr>
        <p:blipFill>
          <a:blip r:embed="rId1"/>
          <a:stretch/>
        </p:blipFill>
        <p:spPr>
          <a:xfrm>
            <a:off x="96012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 6"/>
          <p:cNvSpPr/>
          <p:nvPr/>
        </p:nvSpPr>
        <p:spPr>
          <a:xfrm>
            <a:off x="1554480" y="1755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Creative A/B Testing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Text 7"/>
          <p:cNvSpPr/>
          <p:nvPr/>
        </p:nvSpPr>
        <p:spPr>
          <a:xfrm>
            <a:off x="822960" y="242316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Test image vs. video creative within each ad set; pause underperformers after 3–5 days of data.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Shape 8"/>
          <p:cNvSpPr/>
          <p:nvPr/>
        </p:nvSpPr>
        <p:spPr>
          <a:xfrm>
            <a:off x="6263640" y="146304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Shape 9"/>
          <p:cNvSpPr/>
          <p:nvPr/>
        </p:nvSpPr>
        <p:spPr>
          <a:xfrm>
            <a:off x="6537960" y="173736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3" name="Image 1" descr="preencoded.png"/>
          <p:cNvPicPr/>
          <p:nvPr/>
        </p:nvPicPr>
        <p:blipFill>
          <a:blip r:embed="rId2"/>
          <a:stretch/>
        </p:blipFill>
        <p:spPr>
          <a:xfrm>
            <a:off x="667512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10"/>
          <p:cNvSpPr/>
          <p:nvPr/>
        </p:nvSpPr>
        <p:spPr>
          <a:xfrm>
            <a:off x="7269480" y="1755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 Testing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6537960" y="242316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Run interest-based and lookalike audiences in parallel ad sets to see which holds a lower cost per result.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Shape 12"/>
          <p:cNvSpPr/>
          <p:nvPr/>
        </p:nvSpPr>
        <p:spPr>
          <a:xfrm>
            <a:off x="548640" y="365760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Shape 13"/>
          <p:cNvSpPr/>
          <p:nvPr/>
        </p:nvSpPr>
        <p:spPr>
          <a:xfrm>
            <a:off x="822960" y="3931920"/>
            <a:ext cx="548280" cy="54828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8" name="Image 2" descr="preencoded.png"/>
          <p:cNvPicPr/>
          <p:nvPr/>
        </p:nvPicPr>
        <p:blipFill>
          <a:blip r:embed="rId3"/>
          <a:stretch/>
        </p:blipFill>
        <p:spPr>
          <a:xfrm>
            <a:off x="960120" y="4069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14"/>
          <p:cNvSpPr/>
          <p:nvPr/>
        </p:nvSpPr>
        <p:spPr>
          <a:xfrm>
            <a:off x="1554480" y="395028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Retargeting Sequence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Text 15"/>
          <p:cNvSpPr/>
          <p:nvPr/>
        </p:nvSpPr>
        <p:spPr>
          <a:xfrm>
            <a:off x="822960" y="46177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Website visitors (14 days) → cart abandoners (7 days) → purchasers excluded from future ads.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Shape 16"/>
          <p:cNvSpPr/>
          <p:nvPr/>
        </p:nvSpPr>
        <p:spPr>
          <a:xfrm>
            <a:off x="6263640" y="365760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Shape 17"/>
          <p:cNvSpPr/>
          <p:nvPr/>
        </p:nvSpPr>
        <p:spPr>
          <a:xfrm>
            <a:off x="6537960" y="3931920"/>
            <a:ext cx="548280" cy="54828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53" name="Image 3" descr="preencoded.png"/>
          <p:cNvPicPr/>
          <p:nvPr/>
        </p:nvPicPr>
        <p:blipFill>
          <a:blip r:embed="rId4"/>
          <a:stretch/>
        </p:blipFill>
        <p:spPr>
          <a:xfrm>
            <a:off x="6675120" y="4069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18"/>
          <p:cNvSpPr/>
          <p:nvPr/>
        </p:nvSpPr>
        <p:spPr>
          <a:xfrm>
            <a:off x="7269480" y="395028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Weekly Budget Reallocation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Text 19"/>
          <p:cNvSpPr/>
          <p:nvPr/>
        </p:nvSpPr>
        <p:spPr>
          <a:xfrm>
            <a:off x="6537960" y="46177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Shift budget toward the best-performing ad set each week based on Ads Manager performance data.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6" name="Text 20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Text 21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14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Simulated Performance Snapshot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Projected estimates for learning purposes — no live ad spend was used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362" name="Chart 0"/>
          <p:cNvGraphicFramePr/>
          <p:nvPr/>
        </p:nvGraphicFramePr>
        <p:xfrm>
          <a:off x="457200" y="1463040"/>
          <a:ext cx="5577480" cy="393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3" name="Shape 4"/>
          <p:cNvSpPr/>
          <p:nvPr/>
        </p:nvSpPr>
        <p:spPr>
          <a:xfrm>
            <a:off x="6355080" y="1463040"/>
            <a:ext cx="2468520" cy="182844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6355080" y="17190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f5d52"/>
                </a:solidFill>
                <a:uFillTx/>
                <a:latin typeface="Cambria"/>
                <a:ea typeface="Cambria"/>
              </a:rPr>
              <a:t>1.4%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6355080" y="25419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CTR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9052560" y="1463040"/>
            <a:ext cx="2468520" cy="182844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9052560" y="17190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f5d52"/>
                </a:solidFill>
                <a:uFillTx/>
                <a:latin typeface="Cambria"/>
                <a:ea typeface="Cambria"/>
              </a:rPr>
              <a:t>$0.95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9052560" y="25419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CPC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Shape 10"/>
          <p:cNvSpPr/>
          <p:nvPr/>
        </p:nvSpPr>
        <p:spPr>
          <a:xfrm>
            <a:off x="6355080" y="3520440"/>
            <a:ext cx="2468520" cy="182844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Text 11"/>
          <p:cNvSpPr/>
          <p:nvPr/>
        </p:nvSpPr>
        <p:spPr>
          <a:xfrm>
            <a:off x="6355080" y="37764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f5d52"/>
                </a:solidFill>
                <a:uFillTx/>
                <a:latin typeface="Cambria"/>
                <a:ea typeface="Cambria"/>
              </a:rPr>
              <a:t>$14.50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Text 12"/>
          <p:cNvSpPr/>
          <p:nvPr/>
        </p:nvSpPr>
        <p:spPr>
          <a:xfrm>
            <a:off x="6355080" y="4599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CPM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Shape 13"/>
          <p:cNvSpPr/>
          <p:nvPr/>
        </p:nvSpPr>
        <p:spPr>
          <a:xfrm>
            <a:off x="9052560" y="3520440"/>
            <a:ext cx="2468520" cy="1828440"/>
          </a:xfrm>
          <a:prstGeom prst="roundRect">
            <a:avLst>
              <a:gd name="adj" fmla="val 4500"/>
            </a:avLst>
          </a:prstGeom>
          <a:solidFill>
            <a:srgbClr val="eef5f1"/>
          </a:solidFill>
          <a:ln w="0">
            <a:noFill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Text 14"/>
          <p:cNvSpPr/>
          <p:nvPr/>
        </p:nvSpPr>
        <p:spPr>
          <a:xfrm>
            <a:off x="9052560" y="3776400"/>
            <a:ext cx="2468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f5d52"/>
                </a:solidFill>
                <a:uFillTx/>
                <a:latin typeface="Cambria"/>
                <a:ea typeface="Cambria"/>
              </a:rPr>
              <a:t>3.2x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4" name="Text 15"/>
          <p:cNvSpPr/>
          <p:nvPr/>
        </p:nvSpPr>
        <p:spPr>
          <a:xfrm>
            <a:off x="9052560" y="45993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1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ROAS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Text 16"/>
          <p:cNvSpPr/>
          <p:nvPr/>
        </p:nvSpPr>
        <p:spPr>
          <a:xfrm>
            <a:off x="6355080" y="5486400"/>
            <a:ext cx="5394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4-week totals (projected): ~218K reach  ·  ~2,400 link clicks  ·  ~71 conversions  ·  ~$18 cost per purchase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Text 17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7" name="Text 18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15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What I Learned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The most useful takeaways from building this campaign end-to-end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Shape 4"/>
          <p:cNvSpPr/>
          <p:nvPr/>
        </p:nvSpPr>
        <p:spPr>
          <a:xfrm>
            <a:off x="548640" y="146304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3" name="Shape 5"/>
          <p:cNvSpPr/>
          <p:nvPr/>
        </p:nvSpPr>
        <p:spPr>
          <a:xfrm>
            <a:off x="822960" y="1737360"/>
            <a:ext cx="548280" cy="54828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84" name="Image 0" descr="preencoded.png"/>
          <p:cNvPicPr/>
          <p:nvPr/>
        </p:nvPicPr>
        <p:blipFill>
          <a:blip r:embed="rId1"/>
          <a:stretch/>
        </p:blipFill>
        <p:spPr>
          <a:xfrm>
            <a:off x="96012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 6"/>
          <p:cNvSpPr/>
          <p:nvPr/>
        </p:nvSpPr>
        <p:spPr>
          <a:xfrm>
            <a:off x="1554480" y="1755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Full-Funnel Thinking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6" name="Text 7"/>
          <p:cNvSpPr/>
          <p:nvPr/>
        </p:nvSpPr>
        <p:spPr>
          <a:xfrm>
            <a:off x="822960" y="242316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Splitting objectives by funnel stage clarified what each ad needed to accomplish, instead of asking one ad to do everything.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7" name="Shape 8"/>
          <p:cNvSpPr/>
          <p:nvPr/>
        </p:nvSpPr>
        <p:spPr>
          <a:xfrm>
            <a:off x="6263640" y="146304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8" name="Shape 9"/>
          <p:cNvSpPr/>
          <p:nvPr/>
        </p:nvSpPr>
        <p:spPr>
          <a:xfrm>
            <a:off x="6537960" y="1737360"/>
            <a:ext cx="548280" cy="54828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89" name="Image 1" descr="preencoded.png"/>
          <p:cNvPicPr/>
          <p:nvPr/>
        </p:nvPicPr>
        <p:blipFill>
          <a:blip r:embed="rId2"/>
          <a:stretch/>
        </p:blipFill>
        <p:spPr>
          <a:xfrm>
            <a:off x="667512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 10"/>
          <p:cNvSpPr/>
          <p:nvPr/>
        </p:nvSpPr>
        <p:spPr>
          <a:xfrm>
            <a:off x="7269480" y="1755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Audience Segmentation Matters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Text 11"/>
          <p:cNvSpPr/>
          <p:nvPr/>
        </p:nvSpPr>
        <p:spPr>
          <a:xfrm>
            <a:off x="6537960" y="242316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Narrow, well-defined interest groups outperform broad targeting assumptions made without data.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Shape 12"/>
          <p:cNvSpPr/>
          <p:nvPr/>
        </p:nvSpPr>
        <p:spPr>
          <a:xfrm>
            <a:off x="548640" y="365760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Shape 13"/>
          <p:cNvSpPr/>
          <p:nvPr/>
        </p:nvSpPr>
        <p:spPr>
          <a:xfrm>
            <a:off x="822960" y="3931920"/>
            <a:ext cx="548280" cy="54828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94" name="Image 2" descr="preencoded.png"/>
          <p:cNvPicPr/>
          <p:nvPr/>
        </p:nvPicPr>
        <p:blipFill>
          <a:blip r:embed="rId3"/>
          <a:stretch/>
        </p:blipFill>
        <p:spPr>
          <a:xfrm>
            <a:off x="960120" y="4069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14"/>
          <p:cNvSpPr/>
          <p:nvPr/>
        </p:nvSpPr>
        <p:spPr>
          <a:xfrm>
            <a:off x="1554480" y="395028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Creative Variety Prevents Fatigue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6" name="Text 15"/>
          <p:cNvSpPr/>
          <p:nvPr/>
        </p:nvSpPr>
        <p:spPr>
          <a:xfrm>
            <a:off x="822960" y="46177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Pairing each concept with multiple formats (image, carousel, video) gives Meta's algorithm more signal to optimize against.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7" name="Shape 16"/>
          <p:cNvSpPr/>
          <p:nvPr/>
        </p:nvSpPr>
        <p:spPr>
          <a:xfrm>
            <a:off x="6263640" y="365760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Shape 17"/>
          <p:cNvSpPr/>
          <p:nvPr/>
        </p:nvSpPr>
        <p:spPr>
          <a:xfrm>
            <a:off x="6537960" y="3931920"/>
            <a:ext cx="548280" cy="54828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99" name="Image 3" descr="preencoded.png"/>
          <p:cNvPicPr/>
          <p:nvPr/>
        </p:nvPicPr>
        <p:blipFill>
          <a:blip r:embed="rId4"/>
          <a:stretch/>
        </p:blipFill>
        <p:spPr>
          <a:xfrm>
            <a:off x="6675120" y="4069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Text 18"/>
          <p:cNvSpPr/>
          <p:nvPr/>
        </p:nvSpPr>
        <p:spPr>
          <a:xfrm>
            <a:off x="7269480" y="395028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Tracking Requires Setup, Not Hope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Text 19"/>
          <p:cNvSpPr/>
          <p:nvPr/>
        </p:nvSpPr>
        <p:spPr>
          <a:xfrm>
            <a:off x="6537960" y="46177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UTM parameters and the Conversions API need to be planned before launch, not added afterward.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2" name="Text 20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Text 21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16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5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Challenges Along the Way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Honest friction points worth naming for next time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8" name="Shape 4"/>
          <p:cNvSpPr/>
          <p:nvPr/>
        </p:nvSpPr>
        <p:spPr>
          <a:xfrm>
            <a:off x="548640" y="146304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Shape 5"/>
          <p:cNvSpPr/>
          <p:nvPr/>
        </p:nvSpPr>
        <p:spPr>
          <a:xfrm>
            <a:off x="822960" y="173736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10" name="Image 0" descr="preencoded.png"/>
          <p:cNvPicPr/>
          <p:nvPr/>
        </p:nvPicPr>
        <p:blipFill>
          <a:blip r:embed="rId1"/>
          <a:stretch/>
        </p:blipFill>
        <p:spPr>
          <a:xfrm>
            <a:off x="96012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6"/>
          <p:cNvSpPr/>
          <p:nvPr/>
        </p:nvSpPr>
        <p:spPr>
          <a:xfrm>
            <a:off x="1554480" y="1755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Estimating Realistic Benchmarks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822960" y="242316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Without a live ad account, CTR, CPC, and ROAS figures had to be modeled from industry benchmarks rather than real data.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3" name="Shape 8"/>
          <p:cNvSpPr/>
          <p:nvPr/>
        </p:nvSpPr>
        <p:spPr>
          <a:xfrm>
            <a:off x="6263640" y="146304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4" name="Shape 9"/>
          <p:cNvSpPr/>
          <p:nvPr/>
        </p:nvSpPr>
        <p:spPr>
          <a:xfrm>
            <a:off x="6537960" y="173736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15" name="Image 1" descr="preencoded.png"/>
          <p:cNvPicPr/>
          <p:nvPr/>
        </p:nvPicPr>
        <p:blipFill>
          <a:blip r:embed="rId2"/>
          <a:stretch/>
        </p:blipFill>
        <p:spPr>
          <a:xfrm>
            <a:off x="6675120" y="1874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10"/>
          <p:cNvSpPr/>
          <p:nvPr/>
        </p:nvSpPr>
        <p:spPr>
          <a:xfrm>
            <a:off x="7269480" y="17557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Designing for Every Placement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Text 11"/>
          <p:cNvSpPr/>
          <p:nvPr/>
        </p:nvSpPr>
        <p:spPr>
          <a:xfrm>
            <a:off x="6537960" y="242316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Each format (Feed, Stories, Reels) needs its own aspect ratio and safe zones for text and CTA buttons.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Shape 12"/>
          <p:cNvSpPr/>
          <p:nvPr/>
        </p:nvSpPr>
        <p:spPr>
          <a:xfrm>
            <a:off x="548640" y="365760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9" name="Shape 13"/>
          <p:cNvSpPr/>
          <p:nvPr/>
        </p:nvSpPr>
        <p:spPr>
          <a:xfrm>
            <a:off x="822960" y="393192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20" name="Image 2" descr="preencoded.png"/>
          <p:cNvPicPr/>
          <p:nvPr/>
        </p:nvPicPr>
        <p:blipFill>
          <a:blip r:embed="rId3"/>
          <a:stretch/>
        </p:blipFill>
        <p:spPr>
          <a:xfrm>
            <a:off x="960120" y="4069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Text 14"/>
          <p:cNvSpPr/>
          <p:nvPr/>
        </p:nvSpPr>
        <p:spPr>
          <a:xfrm>
            <a:off x="1554480" y="395028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Balancing a Limited Budget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Text 15"/>
          <p:cNvSpPr/>
          <p:nvPr/>
        </p:nvSpPr>
        <p:spPr>
          <a:xfrm>
            <a:off x="822960" y="46177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Splitting $1,200 across three funnel stages meant real trade-offs between reach and conversion volume.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Shape 16"/>
          <p:cNvSpPr/>
          <p:nvPr/>
        </p:nvSpPr>
        <p:spPr>
          <a:xfrm>
            <a:off x="6263640" y="3657600"/>
            <a:ext cx="5348880" cy="1919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6e1"/>
            </a:solidFill>
            <a:round/>
          </a:ln>
          <a:effectLst>
            <a:outerShdw algn="bl" blurRad="88920" dir="2700000" dist="37674" kx="0" ky="0" rotWithShape="0" sx="100000" sy="100000">
              <a:srgbClr val="1b332c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Shape 17"/>
          <p:cNvSpPr/>
          <p:nvPr/>
        </p:nvSpPr>
        <p:spPr>
          <a:xfrm>
            <a:off x="6537960" y="3931920"/>
            <a:ext cx="548280" cy="548280"/>
          </a:xfrm>
          <a:prstGeom prst="ellipse">
            <a:avLst/>
          </a:prstGeom>
          <a:solidFill>
            <a:srgbClr val="4f7b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25" name="Image 3" descr="preencoded.png"/>
          <p:cNvPicPr/>
          <p:nvPr/>
        </p:nvPicPr>
        <p:blipFill>
          <a:blip r:embed="rId4"/>
          <a:stretch/>
        </p:blipFill>
        <p:spPr>
          <a:xfrm>
            <a:off x="6675120" y="4069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 18"/>
          <p:cNvSpPr/>
          <p:nvPr/>
        </p:nvSpPr>
        <p:spPr>
          <a:xfrm>
            <a:off x="7269480" y="395028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Understanding the Learning Phase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Text 19"/>
          <p:cNvSpPr/>
          <p:nvPr/>
        </p:nvSpPr>
        <p:spPr>
          <a:xfrm>
            <a:off x="6537960" y="4617720"/>
            <a:ext cx="4800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Meta's algorithm needs roughly 50 conversions per ad set before stabilizing, which affects how soon results can be trusted.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Text 20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9" name="Text 21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17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457200" y="384120"/>
            <a:ext cx="420120" cy="420120"/>
          </a:xfrm>
          <a:prstGeom prst="ellipse">
            <a:avLst/>
          </a:prstGeom>
          <a:solidFill>
            <a:srgbClr val="2f5d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457200" y="384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Text 2"/>
          <p:cNvSpPr/>
          <p:nvPr/>
        </p:nvSpPr>
        <p:spPr>
          <a:xfrm>
            <a:off x="1024200" y="31104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3312d"/>
                </a:solidFill>
                <a:uFillTx/>
                <a:latin typeface="Cambria"/>
                <a:ea typeface="Cambria"/>
              </a:rPr>
              <a:t>Recommendations Going Forward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1024200" y="786240"/>
            <a:ext cx="10423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What I'd do next if this campaign were to keep running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640080" y="155448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5" name="Text 5"/>
          <p:cNvSpPr/>
          <p:nvPr/>
        </p:nvSpPr>
        <p:spPr>
          <a:xfrm>
            <a:off x="640080" y="155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1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Text 6"/>
          <p:cNvSpPr/>
          <p:nvPr/>
        </p:nvSpPr>
        <p:spPr>
          <a:xfrm>
            <a:off x="1280160" y="153612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Scale the best-performing ad set's budget once it exits the learning phase.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Shape 7"/>
          <p:cNvSpPr/>
          <p:nvPr/>
        </p:nvSpPr>
        <p:spPr>
          <a:xfrm>
            <a:off x="640080" y="242316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8" name="Text 8"/>
          <p:cNvSpPr/>
          <p:nvPr/>
        </p:nvSpPr>
        <p:spPr>
          <a:xfrm>
            <a:off x="640080" y="2423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2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Text 9"/>
          <p:cNvSpPr/>
          <p:nvPr/>
        </p:nvSpPr>
        <p:spPr>
          <a:xfrm>
            <a:off x="1280160" y="240480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Shift more budget toward retargeting once a warm audience (site visitors, email list) is built.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0" name="Shape 10"/>
          <p:cNvSpPr/>
          <p:nvPr/>
        </p:nvSpPr>
        <p:spPr>
          <a:xfrm>
            <a:off x="640080" y="329184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1" name="Text 11"/>
          <p:cNvSpPr/>
          <p:nvPr/>
        </p:nvSpPr>
        <p:spPr>
          <a:xfrm>
            <a:off x="640080" y="3291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3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Text 12"/>
          <p:cNvSpPr/>
          <p:nvPr/>
        </p:nvSpPr>
        <p:spPr>
          <a:xfrm>
            <a:off x="1280160" y="327348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Test Meta Advantage+ Shopping Campaigns for automated, AI-driven optimization.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Shape 13"/>
          <p:cNvSpPr/>
          <p:nvPr/>
        </p:nvSpPr>
        <p:spPr>
          <a:xfrm>
            <a:off x="640080" y="416052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4" name="Text 14"/>
          <p:cNvSpPr/>
          <p:nvPr/>
        </p:nvSpPr>
        <p:spPr>
          <a:xfrm>
            <a:off x="640080" y="4160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4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Text 15"/>
          <p:cNvSpPr/>
          <p:nvPr/>
        </p:nvSpPr>
        <p:spPr>
          <a:xfrm>
            <a:off x="1280160" y="4142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Build a library of UGC-style content — it tends to outperform polished studio creative for trust.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Shape 16"/>
          <p:cNvSpPr/>
          <p:nvPr/>
        </p:nvSpPr>
        <p:spPr>
          <a:xfrm>
            <a:off x="640080" y="5029200"/>
            <a:ext cx="456840" cy="45684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7" name="Text 17"/>
          <p:cNvSpPr/>
          <p:nvPr/>
        </p:nvSpPr>
        <p:spPr>
          <a:xfrm>
            <a:off x="640080" y="5029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5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Text 18"/>
          <p:cNvSpPr/>
          <p:nvPr/>
        </p:nvSpPr>
        <p:spPr>
          <a:xfrm>
            <a:off x="1280160" y="501084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3312d"/>
                </a:solidFill>
                <a:uFillTx/>
                <a:latin typeface="Calibri"/>
                <a:ea typeface="Calibri"/>
              </a:rPr>
              <a:t>Implement the Conversions API for more accurate, privacy-resilient tracking.</a:t>
            </a:r>
            <a:endParaRPr b="0" lang="en-US" sz="14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Text 19"/>
          <p:cNvSpPr/>
          <p:nvPr/>
        </p:nvSpPr>
        <p:spPr>
          <a:xfrm>
            <a:off x="457200" y="6565320"/>
            <a:ext cx="7314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99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LUMORA SKINCARE  ·  FACEBOOK ADS PRACTICE CAMPAIGN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0" name="Text 20"/>
          <p:cNvSpPr/>
          <p:nvPr/>
        </p:nvSpPr>
        <p:spPr>
          <a:xfrm>
            <a:off x="11277360" y="6565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5c6f6a"/>
                </a:solidFill>
                <a:uFillTx/>
                <a:latin typeface="Calibri"/>
                <a:ea typeface="Calibri"/>
              </a:rPr>
              <a:t>18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0"/>
          <p:cNvSpPr/>
          <p:nvPr/>
        </p:nvSpPr>
        <p:spPr>
          <a:xfrm>
            <a:off x="-2286000" y="3200400"/>
            <a:ext cx="5943240" cy="5943240"/>
          </a:xfrm>
          <a:prstGeom prst="ellipse">
            <a:avLst/>
          </a:prstGeom>
          <a:solidFill>
            <a:srgbClr val="1e3a32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2" name="Shape 1"/>
          <p:cNvSpPr/>
          <p:nvPr/>
        </p:nvSpPr>
        <p:spPr>
          <a:xfrm>
            <a:off x="-1188720" y="4114800"/>
            <a:ext cx="3657240" cy="3657240"/>
          </a:xfrm>
          <a:prstGeom prst="ellipse">
            <a:avLst/>
          </a:prstGeom>
          <a:solidFill>
            <a:srgbClr val="c8923a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3" name="Shape 2"/>
          <p:cNvSpPr/>
          <p:nvPr/>
        </p:nvSpPr>
        <p:spPr>
          <a:xfrm>
            <a:off x="640080" y="640080"/>
            <a:ext cx="502560" cy="502560"/>
          </a:xfrm>
          <a:prstGeom prst="ellipse">
            <a:avLst/>
          </a:prstGeom>
          <a:solidFill>
            <a:srgbClr val="c892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4" name="Text 3"/>
          <p:cNvSpPr/>
          <p:nvPr/>
        </p:nvSpPr>
        <p:spPr>
          <a:xfrm>
            <a:off x="640080" y="640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6241f"/>
                </a:solidFill>
                <a:uFillTx/>
                <a:latin typeface="Cambria"/>
                <a:ea typeface="Cambria"/>
              </a:rPr>
              <a:t>L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5" name="Text 4"/>
          <p:cNvSpPr/>
          <p:nvPr/>
        </p:nvSpPr>
        <p:spPr>
          <a:xfrm>
            <a:off x="640080" y="2651760"/>
            <a:ext cx="10058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uFillTx/>
                <a:latin typeface="Cambria"/>
                <a:ea typeface="Cambria"/>
              </a:rPr>
              <a:t>Thank You</a:t>
            </a:r>
            <a:endParaRPr b="0" lang="en-US" sz="5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685800" y="361188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c8923a"/>
                </a:solidFill>
                <a:uFillTx/>
                <a:latin typeface="Calibri"/>
                <a:ea typeface="Calibri"/>
              </a:rPr>
              <a:t>Questions &amp; Discussion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7" name="Text 6"/>
          <p:cNvSpPr/>
          <p:nvPr/>
        </p:nvSpPr>
        <p:spPr>
          <a:xfrm>
            <a:off x="685800" y="59893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8fafa6"/>
                </a:solidFill>
                <a:uFillTx/>
                <a:latin typeface="Calibri"/>
                <a:ea typeface="Calibri"/>
              </a:rPr>
              <a:t>[Yby Kundan Singh Tanwar ]   ·   [kundansinghtanwar607@gmail.com</a:t>
            </a:r>
            <a:r>
              <a:rPr b="0" lang="en-US" sz="1200" strike="noStrike" u="none">
                <a:solidFill>
                  <a:srgbClr val="8fafa6"/>
                </a:solidFill>
                <a:uFillTx/>
                <a:latin typeface="Calibri"/>
                <a:ea typeface="Calibri"/>
              </a:rPr>
              <a:t>]   ·   Lumora Skincare Facebook Ads Practice Campaign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LibreOfficeDev/24.8.7.2.0$Android_AARCH64 LibreOffice_project/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2026-06-18T03:06:15Z</dcterms:created>
  <dc:creator>Lumora Skincare Internship Project</dc:creator>
  <dc:description/>
  <dc:language>en-US</dc:language>
  <cp:lastModifiedBy/>
  <dcterms:modified xsi:type="dcterms:W3CDTF">2026-06-18T09:00:31Z</dcterms:modified>
  <cp:revision>2</cp:revision>
  <dc:subject>PptxGenJS Presentation</dc:subject>
  <dc:title>Lumora Skincare — Facebook Ads Practice Campaign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19</vt:r8>
  </property>
  <property fmtid="{D5CDD505-2E9C-101B-9397-08002B2CF9AE}" pid="3" name="PresentationFormat">
    <vt:lpwstr>On-screen Show (16:9)</vt:lpwstr>
  </property>
  <property fmtid="{D5CDD505-2E9C-101B-9397-08002B2CF9AE}" pid="4" name="Slides">
    <vt:r8>19</vt:r8>
  </property>
</Properties>
</file>